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lan Mordaunt (Illawarra Shoalhaven LHD)" userId="9424fd03-6af4-48f6-911f-6ee5bc6485ab" providerId="ADAL" clId="{0D472803-CA94-49BC-A79A-FCCA18DDD69C}"/>
    <pc:docChg chg="mod">
      <pc:chgData name="Dylan Mordaunt (Illawarra Shoalhaven LHD)" userId="9424fd03-6af4-48f6-911f-6ee5bc6485ab" providerId="ADAL" clId="{0D472803-CA94-49BC-A79A-FCCA18DDD69C}" dt="2025-09-24T05:24:39.928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PowerPoint Presentation Template for ANZJP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Presentation Structure (15-20 slides)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Title:</a:t>
            </a:r>
            <a:r>
              <a:t> Cost-Effectiveness of Ketamine, Esketamine, and Psilocybin vs ECT for Treatment-Resistant Depression in Australia and New Zealand</a:t>
            </a:r>
          </a:p>
          <a:p>
            <a:pPr marL="0" lvl="0" indent="0">
              <a:buNone/>
            </a:pPr>
            <a:r>
              <a:rPr b="1"/>
              <a:t>Subtitle:</a:t>
            </a:r>
            <a:r>
              <a:t> Australia and New Zealand Cost-Effectiveness Analysis</a:t>
            </a:r>
          </a:p>
          <a:p>
            <a:pPr marL="0" lvl="0" indent="0">
              <a:buNone/>
            </a:pPr>
            <a:r>
              <a:rPr b="1"/>
              <a:t>Authors:</a:t>
            </a:r>
            <a:r>
              <a:t> [Author names and affiliations]</a:t>
            </a:r>
          </a:p>
          <a:p>
            <a:pPr marL="0" lvl="0" indent="0">
              <a:buNone/>
            </a:pPr>
            <a:r>
              <a:rPr b="1"/>
              <a:t>Date:</a:t>
            </a:r>
            <a:r>
              <a:t> [Presentation date]</a:t>
            </a:r>
          </a:p>
          <a:p>
            <a:pPr marL="0" lvl="0" indent="0">
              <a:buNone/>
            </a:pPr>
            <a:r>
              <a:rPr b="1"/>
              <a:t>Conference:</a:t>
            </a:r>
            <a:r>
              <a:t> [Conference name or “ANZJP Submission”]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2: Disclosure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Funding:</a:t>
            </a:r>
            <a:r>
              <a:t> [Funding sources]</a:t>
            </a:r>
          </a:p>
          <a:p>
            <a:pPr marL="0" lvl="0" indent="0">
              <a:buNone/>
            </a:pPr>
            <a:r>
              <a:rPr b="1"/>
              <a:t>Conflicts of Interest:</a:t>
            </a:r>
            <a:r>
              <a:t> [Declarations]</a:t>
            </a:r>
          </a:p>
          <a:p>
            <a:pPr marL="0" lvl="0" indent="0">
              <a:buNone/>
            </a:pPr>
            <a:r>
              <a:rPr b="1"/>
              <a:t>Acknowledgements:</a:t>
            </a:r>
            <a:r>
              <a:t> [Collaborators and contributors]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3: Background and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Treatment-Resistant Depression (TRD)</a:t>
            </a:r>
            <a:r>
              <a:t> - Severe mental health condition affecting ~30% of depression cases - Significant economic burden and quality of life impact - ECT remains gold standard but has limitations</a:t>
            </a:r>
          </a:p>
          <a:p>
            <a:pPr marL="0" lvl="0" indent="0">
              <a:buNone/>
            </a:pPr>
            <a:r>
              <a:rPr b="1"/>
              <a:t>Emerging Alternatives</a:t>
            </a:r>
            <a:r>
              <a:t> - IV Ketamine: Rapid antidepressant effects - Intranasal Esketamine: FDA-approved for TRD - Oral Psilocybin: Promising early results</a:t>
            </a:r>
          </a:p>
          <a:p>
            <a:pPr marL="0" lvl="0" indent="0">
              <a:buNone/>
            </a:pPr>
            <a:r>
              <a:rPr b="1"/>
              <a:t>Research Gap</a:t>
            </a:r>
            <a:r>
              <a:t> - Limited economic evidence in ANZ context - Need for cost-effectiveness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4: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Primary Objective</a:t>
            </a:r>
            <a:r>
              <a:t> - Compare cost-effectiveness of psychedelic therapies vs ECT</a:t>
            </a:r>
          </a:p>
          <a:p>
            <a:pPr marL="0" lvl="0" indent="0">
              <a:buNone/>
            </a:pPr>
            <a:r>
              <a:rPr b="1"/>
              <a:t>Secondary Objectives</a:t>
            </a:r>
            <a:r>
              <a:t> - Conduct budget impact analysis - Evaluate uncertainty and value of information - Assess country-specific implications</a:t>
            </a:r>
          </a:p>
          <a:p>
            <a:pPr marL="0" lvl="0" indent="0">
              <a:buNone/>
            </a:pPr>
            <a:r>
              <a:rPr b="1"/>
              <a:t>Key Questions</a:t>
            </a:r>
            <a:r>
              <a:t> - Which interventions are cost-effective? - What is the budget impact of adoption? - Where should future research focus?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5: 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Study Design</a:t>
            </a:r>
            <a:r>
              <a:t> - Economic evaluation: Cost-effectiveness analysis (CEA) - Budget impact analysis (BIA) - Country-specific: Australia and New Zealand</a:t>
            </a:r>
          </a:p>
          <a:p>
            <a:pPr marL="0" lvl="0" indent="0">
              <a:buNone/>
            </a:pPr>
            <a:r>
              <a:rPr b="1"/>
              <a:t>Model Type</a:t>
            </a:r>
            <a:r>
              <a:t> - Hybrid decision-tree Markov model - 5-year time horizon - Healthcare and societal perspectives</a:t>
            </a:r>
          </a:p>
          <a:p>
            <a:pPr marL="0" lvl="0" indent="0">
              <a:buNone/>
            </a:pPr>
            <a:r>
              <a:rPr b="1"/>
              <a:t>Interventions</a:t>
            </a:r>
            <a:r>
              <a:t> - ECT (electroconvulsive therapy) - IV Ketamine infusion - Intranasal Esketamine - Oral Psilocybin-assisted therapy - KA-ECT (ketamine-assisted 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6: 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Decision Tree (Acute Phase)</a:t>
            </a:r>
            <a:r>
              <a:t> - 3-month acute treatment decision - Remission vs non-remission outcomes - Treatment switching possibilities</a:t>
            </a:r>
          </a:p>
          <a:p>
            <a:pPr marL="0" lvl="0" indent="0">
              <a:buNone/>
            </a:pPr>
            <a:r>
              <a:rPr b="1"/>
              <a:t>Markov Model (Maintenance Phase)</a:t>
            </a:r>
            <a:r>
              <a:t> - Health states: Depression, Remission, Dead - Monthly cycles for 5 years - Relapse and re-treatment transitions</a:t>
            </a:r>
          </a:p>
          <a:p>
            <a:pPr marL="0" lvl="0" indent="0">
              <a:buNone/>
            </a:pPr>
            <a:r>
              <a:rPr b="1"/>
              <a:t>Key Assumptions</a:t>
            </a:r>
            <a:r>
              <a:t> - [List 3-4 key assumptions]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7: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Clinical Effectiveness</a:t>
            </a:r>
            <a:r>
              <a:t> - ECT: UK RCT (59% remission) - Ketamine: NEJM 2023 trial (55% remission) - Esketamine: TRANSFORM-2 trial (28% remission) - Psilocybin: COMPASS trial (29% remission)</a:t>
            </a:r>
          </a:p>
          <a:p>
            <a:pPr marL="0" lvl="0" indent="0">
              <a:buNone/>
            </a:pPr>
            <a:r>
              <a:rPr b="1"/>
              <a:t>Cost Data</a:t>
            </a:r>
            <a:r>
              <a:t> - Australia: MBS, PBS, hospital data - New Zealand: PHARMAC, hospital data - 2024 currency values</a:t>
            </a:r>
          </a:p>
          <a:p>
            <a:pPr marL="0" lvl="0" indent="0">
              <a:buNone/>
            </a:pPr>
            <a:r>
              <a:rPr b="1"/>
              <a:t>Utility Data</a:t>
            </a:r>
            <a:r>
              <a:t> - EQ-5D values for depression states - Literature-based treatment disutilities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8: Base-Case Results - Australia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Cost-Effectiveness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Total Cost (AUD)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QALYs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ICER vs 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$59,200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IV Ketamine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$69,200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$28,500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Esketamine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$156,000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Psilocybin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$42,300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Findings</a:t>
            </a:r>
            <a:r>
              <a:t> - ECT remains cost-effective benchmark - Ketamine shows promise as alternative - Esketamine not cost-effective at current prices</a:t>
            </a:r>
          </a:p>
        </p:txBody>
      </p:sp>
      <p:pic>
        <p:nvPicPr>
          <p:cNvPr id="2" name="Picture 1" descr="ce_plane_combined_AU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17500"/>
            <a:ext cx="51054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 1: Cost-Effectiveness Planes - Australia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9: Base-Case Results - New Zealand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Cost-Effectiveness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Total Cost (NZD)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QALYs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ICER vs 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$53,600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IV Ketamine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$62,920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$26,800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Esketamine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$73,120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$142,000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Psilocybin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$79,800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$39,500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Findings</a:t>
            </a:r>
            <a:r>
              <a:t> - Similar qualitative results to Australia - Slightly lower ICERs due to different cost structures - ECT dominant in both countries</a:t>
            </a:r>
          </a:p>
        </p:txBody>
      </p:sp>
      <p:pic>
        <p:nvPicPr>
          <p:cNvPr id="2" name="Picture 1" descr="ce_plane_combined_NZ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17500"/>
            <a:ext cx="51054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 1: Cost-Effectiveness Planes - New Zealand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10: Uncertainty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Probabilistic Sensitivity Analysis</a:t>
            </a:r>
            <a:r>
              <a:t> - 2,000 iterations - Cost-effectiveness acceptability curves</a:t>
            </a:r>
          </a:p>
          <a:p>
            <a:pPr marL="0" lvl="0" indent="0">
              <a:buNone/>
            </a:pPr>
            <a:r>
              <a:rPr b="1"/>
              <a:t>Key Results</a:t>
            </a:r>
            <a:r>
              <a:t> - ECT: 50% probability cost-effective - Ketamine: 45% probability cost-effective - Esketamine: 0% probability cost-effective - Psilocybin: 35% probability cost-effective</a:t>
            </a:r>
          </a:p>
          <a:p>
            <a:pPr marL="0" lvl="0" indent="0">
              <a:buNone/>
            </a:pPr>
            <a:r>
              <a:rPr b="1"/>
              <a:t>Deterministic Sensitivity Analysis</a:t>
            </a:r>
            <a:r>
              <a:t> - Tornado diagrams showing key drivers - ECT remission rate most influential - Cost parameters moderate impact</a:t>
            </a:r>
          </a:p>
        </p:txBody>
      </p:sp>
      <p:pic>
        <p:nvPicPr>
          <p:cNvPr id="3" name="Picture 1" descr="ceac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 2: Cost-Effectiveness Acceptability Curves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11: Scenario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Scenario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ICER (AU)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ICER (NZ)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Key 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ECT dominant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Optimistic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Ketamine competitive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Pessimistic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$45,600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$42,100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ECT strongly dominant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Sensitivity to Assumptions</a:t>
            </a:r>
            <a:r>
              <a:t> - Efficacy assumptions drive results - Cost reductions improve cost-effectiveness - Durability of effect critical</a:t>
            </a:r>
          </a:p>
        </p:txBody>
      </p:sp>
      <p:pic>
        <p:nvPicPr>
          <p:cNvPr id="2" name="Picture 1" descr="tornado_diagrams_AU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 3: Tornado Diagrams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12: Subgroup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Age Subgroups</a:t>
            </a:r>
            <a:r>
              <a:t> - Younger patients (&lt;35): Poorer cost-effectiveness - Older patients (65+): Better cost-effectiveness - Middle age optimal balance</a:t>
            </a:r>
          </a:p>
          <a:p>
            <a:pPr marL="0" lvl="0" indent="0">
              <a:buNone/>
            </a:pPr>
            <a:r>
              <a:rPr b="1"/>
              <a:t>Severity Subgroups</a:t>
            </a:r>
            <a:r>
              <a:t> - Severe depression: Ketamine cost-effective - Moderate depression: ECT preferred - Mild depression: Both less effective</a:t>
            </a:r>
          </a:p>
          <a:p>
            <a:pPr marL="0" lvl="0" indent="0">
              <a:buNone/>
            </a:pPr>
            <a:r>
              <a:rPr b="1"/>
              <a:t>Gender Differences</a:t>
            </a:r>
            <a:r>
              <a:t> - Similar results across genders - Slight variations in NMB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13: Budget Impact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5-Year 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Scenario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Incremental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$24.2M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$0.2M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$24.5M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$0.6M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$25.0M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$26.2M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$1.2M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$27.4M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$1.9M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$28.7M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$2.7M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Findings</a:t>
            </a:r>
            <a:r>
              <a:t> - Modest budget impact in early years - Cumulative 5-year impact: $6.6M (AU) - Cost-neutral to cost-saving in some scenarios</a:t>
            </a:r>
          </a:p>
        </p:txBody>
      </p:sp>
      <p:pic>
        <p:nvPicPr>
          <p:cNvPr id="2" name="Picture 1" descr="budget_impact_curves_AU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 4: Budget Impact Curves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14: Value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Expected Value of Perfect Information</a:t>
            </a:r>
            <a:r>
              <a:t> - Australia: $4,430 per patient - New Zealand: $4,539 per patient - Population EVPI: $4.4M (AU), $4.5M (NZ)</a:t>
            </a:r>
          </a:p>
          <a:p>
            <a:pPr marL="0" lvl="0" indent="0">
              <a:buNone/>
            </a:pPr>
            <a:r>
              <a:rPr b="1"/>
              <a:t>Expected Value of Partial Perfect Information</a:t>
            </a:r>
            <a:r>
              <a:t> - Clinical parameters: 50% of uncertainty - Cost parameters: 30% of uncertainty - Utility parameters: 20% of uncertainty</a:t>
            </a:r>
          </a:p>
          <a:p>
            <a:pPr marL="0" lvl="0" indent="0">
              <a:buNone/>
            </a:pPr>
            <a:r>
              <a:rPr b="1"/>
              <a:t>Research Priorities</a:t>
            </a:r>
            <a:r>
              <a:t> - Focus on clinical effectiveness - Long-term outcomes - Head-to-head trials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15: Clinical and 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Clinical Implications</a:t>
            </a:r>
            <a:r>
              <a:t> - ECT remains first-line for severe TRD - Ketamine viable alternative for appropriate patients - Need for careful patient selection</a:t>
            </a:r>
          </a:p>
          <a:p>
            <a:pPr marL="0" lvl="0" indent="0">
              <a:buNone/>
            </a:pPr>
            <a:r>
              <a:rPr b="1"/>
              <a:t>Policy Implications - Australia</a:t>
            </a:r>
            <a:r>
              <a:t> - PBS listing considerations for ketamine - Funding models for psychedelic therapy - Integration into treatment guidelines</a:t>
            </a:r>
          </a:p>
          <a:p>
            <a:pPr marL="0" lvl="0" indent="0">
              <a:buNone/>
            </a:pPr>
            <a:r>
              <a:rPr b="1"/>
              <a:t>Policy Implications - New Zealand</a:t>
            </a:r>
            <a:r>
              <a:t> - PHARMAC reimbursement pathways - District Health Board implementation - Maori health considerations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16: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Methodological Limitations</a:t>
            </a:r>
            <a:r>
              <a:t> - Model assumptions and simplifications - Data limitations and uncertainties - Generalizability considerations</a:t>
            </a:r>
          </a:p>
          <a:p>
            <a:pPr marL="0" lvl="0" indent="0">
              <a:buNone/>
            </a:pPr>
            <a:r>
              <a:rPr b="1"/>
              <a:t>Data Limitations</a:t>
            </a:r>
            <a:r>
              <a:t> - Limited local cost data - Emerging clinical evidence - Long-term outcomes uncertain</a:t>
            </a:r>
          </a:p>
          <a:p>
            <a:pPr marL="0" lvl="0" indent="0">
              <a:buNone/>
            </a:pPr>
            <a:r>
              <a:rPr b="1"/>
              <a:t>Future Research Needs</a:t>
            </a:r>
            <a:r>
              <a:t> - Local clinical trials - Real-world effectiveness studies - Long-term cost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17: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Main Findings</a:t>
            </a:r>
            <a:r>
              <a:t> - ECT remains cost-effective benchmark - Ketamine shows promise as alternative - Significant uncertainty remains</a:t>
            </a:r>
          </a:p>
          <a:p>
            <a:pPr marL="0" lvl="0" indent="0">
              <a:buNone/>
            </a:pPr>
            <a:r>
              <a:rPr b="1"/>
              <a:t>Recommendations</a:t>
            </a:r>
            <a:r>
              <a:t> - Cautious integration of psychedelic therapies - Further research on clinical effectiveness - Policy frameworks for implementation</a:t>
            </a:r>
          </a:p>
          <a:p>
            <a:pPr marL="0" lvl="0" indent="0">
              <a:buNone/>
            </a:pPr>
            <a:r>
              <a:rPr b="1"/>
              <a:t>Call to Action</a:t>
            </a:r>
            <a:r>
              <a:t> - Support local clinical trials - Develop implementation guidelines - Monitor real-world outcomes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18: 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Thank You</a:t>
            </a:r>
            <a:r>
              <a:t> - Acknowledgement of funding and collaborators - Contact information</a:t>
            </a:r>
          </a:p>
          <a:p>
            <a:pPr marL="0" lvl="0" indent="0">
              <a:buNone/>
            </a:pPr>
            <a:r>
              <a:rPr b="1"/>
              <a:t>Questions?</a:t>
            </a:r>
          </a:p>
          <a:p>
            <a:pPr marL="0" lvl="0" indent="0">
              <a:buNone/>
            </a:pPr>
            <a:r>
              <a:t>[Contact details] [QR code to full report]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Presentation Notes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Introduction: 2 minutes</a:t>
            </a:r>
          </a:p>
          <a:p>
            <a:pPr lvl="0"/>
            <a:r>
              <a:t>Methods: 3 minutes</a:t>
            </a:r>
          </a:p>
          <a:p>
            <a:pPr lvl="0"/>
            <a:r>
              <a:t>Results: 6 minutes</a:t>
            </a:r>
          </a:p>
          <a:p>
            <a:pPr lvl="0"/>
            <a:r>
              <a:t>Discussion: 4 minutes</a:t>
            </a:r>
          </a:p>
          <a:p>
            <a:pPr lvl="0"/>
            <a:r>
              <a:t>Total: 15 minutes + 5 minutes Q&amp;A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ANZJP color scheme (blue and white)</a:t>
            </a:r>
          </a:p>
          <a:p>
            <a:pPr lvl="0"/>
            <a:r>
              <a:t>High-contrast text for accessibility</a:t>
            </a:r>
          </a:p>
          <a:p>
            <a:pPr lvl="0"/>
            <a:r>
              <a:t>Consistent font sizes (24pt minimum)</a:t>
            </a:r>
          </a:p>
          <a:p>
            <a:pPr lvl="0"/>
            <a:r>
              <a:t>Clear, readable figures</a:t>
            </a:r>
          </a:p>
          <a:p>
            <a:pPr lvl="0"/>
            <a:r>
              <a:t>Professional layout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Content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Focus on key messages</a:t>
            </a:r>
          </a:p>
          <a:p>
            <a:pPr lvl="0"/>
            <a:r>
              <a:t>Use simple language</a:t>
            </a:r>
          </a:p>
          <a:p>
            <a:pPr lvl="0"/>
            <a:r>
              <a:t>Avoid jargon or explain it</a:t>
            </a:r>
          </a:p>
          <a:p>
            <a:pPr lvl="0"/>
            <a:r>
              <a:t>Emphasize clinical relevance</a:t>
            </a:r>
          </a:p>
          <a:p>
            <a:pPr lvl="0"/>
            <a:r>
              <a:t>Highlight policy implications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Backup Slides (if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Detailed methods</a:t>
            </a:r>
          </a:p>
          <a:p>
            <a:pPr lvl="0"/>
            <a:r>
              <a:t>Additional sensitivity analyses</a:t>
            </a:r>
          </a:p>
          <a:p>
            <a:pPr lvl="0"/>
            <a:r>
              <a:t>Technical model details</a:t>
            </a:r>
          </a:p>
          <a:p>
            <a:pPr lvl="0"/>
            <a:r>
              <a:t>Extended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Microsoft Office PowerPoint</Application>
  <PresentationFormat>On-screen Show (16:9)</PresentationFormat>
  <Paragraphs>181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 Template for ANZJP Submission</vt:lpstr>
      <vt:lpstr>Presentation Structure (15-20 slides)</vt:lpstr>
      <vt:lpstr>Slide 1: Title Slide</vt:lpstr>
      <vt:lpstr>Slide 2: Disclosure Slide</vt:lpstr>
      <vt:lpstr>Slide 3: Background and Rationale</vt:lpstr>
      <vt:lpstr>Slide 4: Research Objectives</vt:lpstr>
      <vt:lpstr>Slide 5: Methods Overview</vt:lpstr>
      <vt:lpstr>Slide 6: Model Structure</vt:lpstr>
      <vt:lpstr>Slide 7: Data Sources</vt:lpstr>
      <vt:lpstr>Slide 8: Base-Case Results - Australia</vt:lpstr>
      <vt:lpstr>PowerPoint Presentation</vt:lpstr>
      <vt:lpstr>Slide 9: Base-Case Results - New Zealand</vt:lpstr>
      <vt:lpstr>PowerPoint Presentation</vt:lpstr>
      <vt:lpstr>Slide 10: Uncertainty Analysis</vt:lpstr>
      <vt:lpstr>Slide 11: Scenario Analysis</vt:lpstr>
      <vt:lpstr>PowerPoint Presentation</vt:lpstr>
      <vt:lpstr>Slide 12: Subgroup Analysis</vt:lpstr>
      <vt:lpstr>Slide 13: Budget Impact Analysis</vt:lpstr>
      <vt:lpstr>PowerPoint Presentation</vt:lpstr>
      <vt:lpstr>Slide 14: Value of Information</vt:lpstr>
      <vt:lpstr>Slide 15: Clinical and Policy Implications</vt:lpstr>
      <vt:lpstr>Slide 16: Limitations</vt:lpstr>
      <vt:lpstr>Slide 17: Conclusions</vt:lpstr>
      <vt:lpstr>Slide 18: Thank You &amp; Questions</vt:lpstr>
      <vt:lpstr>Presentation Notes</vt:lpstr>
      <vt:lpstr>Timing Guidelines</vt:lpstr>
      <vt:lpstr>Visual Guidelines</vt:lpstr>
      <vt:lpstr>Content Guidelines</vt:lpstr>
      <vt:lpstr>Backup Slides (if needed)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Dylan Mordaunt (Illawarra Shoalhaven LHD)</cp:lastModifiedBy>
  <cp:revision>1</cp:revision>
  <dcterms:created xsi:type="dcterms:W3CDTF">2025-09-24T03:42:36Z</dcterms:created>
  <dcterms:modified xsi:type="dcterms:W3CDTF">2025-09-24T05:24:40Z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f30421-7766-42c6-b167-b4a273574e25_Enabled">
    <vt:lpwstr>true</vt:lpwstr>
  </property>
  <property fmtid="{D5CDD505-2E9C-101B-9397-08002B2CF9AE}" pid="3" name="MSIP_Label_00f30421-7766-42c6-b167-b4a273574e25_SetDate">
    <vt:lpwstr>2025-09-24T05:24:39Z</vt:lpwstr>
  </property>
  <property fmtid="{D5CDD505-2E9C-101B-9397-08002B2CF9AE}" pid="4" name="MSIP_Label_00f30421-7766-42c6-b167-b4a273574e25_Method">
    <vt:lpwstr>Privileged</vt:lpwstr>
  </property>
  <property fmtid="{D5CDD505-2E9C-101B-9397-08002B2CF9AE}" pid="5" name="MSIP_Label_00f30421-7766-42c6-b167-b4a273574e25_Name">
    <vt:lpwstr>UNOFFICIAL</vt:lpwstr>
  </property>
  <property fmtid="{D5CDD505-2E9C-101B-9397-08002B2CF9AE}" pid="6" name="MSIP_Label_00f30421-7766-42c6-b167-b4a273574e25_SiteId">
    <vt:lpwstr>a687a7bf-02db-43df-bcbb-e7a8bda611a2</vt:lpwstr>
  </property>
  <property fmtid="{D5CDD505-2E9C-101B-9397-08002B2CF9AE}" pid="7" name="MSIP_Label_00f30421-7766-42c6-b167-b4a273574e25_ActionId">
    <vt:lpwstr>4babc5b3-7f24-4cf0-9ab7-ad8c8d16702b</vt:lpwstr>
  </property>
  <property fmtid="{D5CDD505-2E9C-101B-9397-08002B2CF9AE}" pid="8" name="MSIP_Label_00f30421-7766-42c6-b167-b4a273574e25_ContentBits">
    <vt:lpwstr>0</vt:lpwstr>
  </property>
  <property fmtid="{D5CDD505-2E9C-101B-9397-08002B2CF9AE}" pid="9" name="MSIP_Label_00f30421-7766-42c6-b167-b4a273574e25_Tag">
    <vt:lpwstr>10, 0, 1, 1</vt:lpwstr>
  </property>
</Properties>
</file>